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152.7</c:v>
                </c:pt>
                <c:pt idx="1">
                  <c:v>159.5</c:v>
                </c:pt>
                <c:pt idx="2">
                  <c:v>164.7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140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F8A70"/>
            </a:solidFill>
            <a:ln w="25400" cap="flat">
              <a:solidFill>
                <a:srgbClr val="1F8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8A70"/>
              </a:solidFill>
              <a:ln w="9525" cap="flat">
                <a:solidFill>
                  <a:srgbClr val="1F8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25.3</c:v>
                </c:pt>
                <c:pt idx="2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F96302"/>
            </a:solidFill>
            <a:ln w="25400" cap="flat">
              <a:solidFill>
                <a:srgbClr val="F9630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302"/>
              </a:solidFill>
              <a:ln w="9525" cap="flat">
                <a:solidFill>
                  <a:srgbClr val="F9630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17.9</c:v>
                </c:pt>
                <c:pt idx="1">
                  <c:v>16.3</c:v>
                </c:pt>
                <c:pt idx="2">
                  <c:v>12.6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Principal Due</c:v>
                </c:pt>
              </c:strCache>
            </c:strRef>
          </c:tx>
          <c:spPr>
            <a:solidFill>
              <a:srgbClr val="F963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FY2026</c:v>
                  </c:pt>
                  <c:pt idx="1">
                    <c:v>FY2027</c:v>
                  </c:pt>
                  <c:pt idx="2">
                    <c:v>FY2028</c:v>
                  </c:pt>
                  <c:pt idx="3">
                    <c:v>FY2029</c:v>
                  </c:pt>
                  <c:pt idx="4">
                    <c:v>FY2030</c:v>
                  </c:pt>
                  <c:pt idx="5">
                    <c:v>Thereafter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4.684</c:v>
                </c:pt>
                <c:pt idx="1">
                  <c:v>3.625</c:v>
                </c:pt>
                <c:pt idx="2">
                  <c:v>3.115</c:v>
                </c:pt>
                <c:pt idx="3">
                  <c:v>3.852</c:v>
                </c:pt>
                <c:pt idx="4">
                  <c:v>2.072</c:v>
                </c:pt>
                <c:pt idx="5">
                  <c:v>32.049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/ EBITDA</c:v>
                </c:pt>
              </c:strCache>
            </c:strRef>
          </c:tx>
          <c:spPr>
            <a:solidFill>
              <a:srgbClr val="F963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Current</c:v>
                  </c:pt>
                  <c:pt idx="1">
                    <c:v>Base + $3B</c:v>
                  </c:pt>
                  <c:pt idx="2">
                    <c:v>Moderate</c:v>
                  </c:pt>
                  <c:pt idx="3">
                    <c:v>Severe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2.23</c:v>
                </c:pt>
                <c:pt idx="1">
                  <c:v>2.35</c:v>
                </c:pt>
                <c:pt idx="2">
                  <c:v>2.65</c:v>
                </c:pt>
                <c:pt idx="3">
                  <c:v>3.01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Interest Coverage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Current</c:v>
                  </c:pt>
                  <c:pt idx="1">
                    <c:v>Base + $3B</c:v>
                  </c:pt>
                  <c:pt idx="2">
                    <c:v>Moderate</c:v>
                  </c:pt>
                  <c:pt idx="3">
                    <c:v>Severe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8.66</c:v>
                </c:pt>
                <c:pt idx="1">
                  <c:v>8.06</c:v>
                </c:pt>
                <c:pt idx="2">
                  <c:v>7.05</c:v>
                </c:pt>
                <c:pt idx="3">
                  <c:v>6.11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302"/>
                </a:solidFill>
              </a:rPr>
              <a:t>HOME DEPOT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Credit &amp; Financing Review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95528" y="25786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0EB"/>
                </a:solidFill>
              </a:rPr>
              <a:t>Illustrative $3.0B incremental senior unsecured debt case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3063240"/>
            <a:ext cx="4480560" cy="0"/>
          </a:xfrm>
          <a:prstGeom prst="line">
            <a:avLst/>
          </a:prstGeom>
          <a:noFill/>
          <a:ln w="38100">
            <a:solidFill>
              <a:srgbClr val="F963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1CF"/>
                </a:solidFill>
              </a:rPr>
              <a:t>Corporate Credit &amp; Debt Capacity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5650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Corporate Banking Analyst Case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 &amp;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$3.0B financing is supportable, but leverage should be actively managed.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347472"/>
            <a:ext cx="2084832" cy="310896"/>
          </a:xfrm>
          <a:prstGeom prst="roundRect">
            <a:avLst>
              <a:gd name="adj" fmla="val 264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28632" y="41148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LEND WITH CONDITIONS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594360" y="1298448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41732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Current funded debt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0664" y="164592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$55.8B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0664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Includes commercial paper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16352" y="1298448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141732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Current Debt / EBITDA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62656" y="164592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2.23x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38344" y="1298448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41732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Pro forma Debt / EBITDA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84648" y="164592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2.35x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60336" y="1298448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41732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Moderate downside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06640" y="164592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2.65x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Debt / EBITDA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482328" y="1298448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141732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Moderate debt capacity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28632" y="164592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$5.3B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28632" y="1993392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$2.3B headroom vs request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4360" y="260604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606040"/>
            <a:ext cx="5349240" cy="329184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2679192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lend?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8952" y="3044952"/>
            <a:ext cx="5020056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$12.6B of latest-year free cash flow supports debt service.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Current EBIT / interest coverage is 8.66x and remains above 7.0x in the moderate downside.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$11.0B of back-up facilities were undrawn at year-end.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The requested $3.0B remains inside the 2.75x leverage guardrail under the moderate downside.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60604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606040"/>
            <a:ext cx="5349240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679192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conditions?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82512" y="3044952"/>
            <a:ext cx="5020056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$4.7B of long-term debt matures in fiscal 2026 and $3.6B in fiscal 2027.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$4.5B of commercial paper was outstanding at year-end.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Severe downside pushes pro forma funded leverage to approximately 3.01x.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Acquisition financing has increased balance-sheet leverage and refinancing exposure.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Borrower Financial Profile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Sales have grown, while cash flow and margin pressure reduce some credit cushion.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1261872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1133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2"/>
                </a:solidFill>
              </a:rPr>
              <a:t>Net sales ($B)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261872"/>
          <a:ext cx="5349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355080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2"/>
                </a:solidFill>
              </a:rPr>
              <a:t>EBITDA and free cash flow ($B)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" y="38862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0664" y="400507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FY2025 EBITDA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40664" y="423367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$25.0B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090672" y="38862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36976" y="400507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FY2025 FCF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236976" y="423367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$12.6B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586984" y="38862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33288" y="400507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Interest expense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733288" y="423367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$2.4B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083296" y="38862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0" y="400507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Interest coverage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229600" y="423367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8.66x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94360" y="5230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Credit read-through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94360" y="5532120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company still generates substantial cash, but FY2025 operating cash flow declined to $16.3B while interest expense increased. The case therefore focuses on preserving leverage headroom rather than simply maximizing debt capacity.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Capital Structure &amp; Liquidity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Funded debt is sizeable, but committed liquidity remains strong.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3533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Commercial paper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0664" y="15819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$4.5B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0664" y="1929384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3.7% weighted average at year-end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3533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Long-term debt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92424" y="15819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$51.3B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2424" y="1929384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Includes current installments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97880" y="12344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44184" y="13533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Cash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44184" y="15819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$1.4B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49640" y="12344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5944" y="13533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Back-up facilities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95944" y="15819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$11.0B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95944" y="1929384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Undrawn at year-end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4360" y="2560320"/>
            <a:ext cx="53035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761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Capital 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154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Commercial paper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3154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$4.5B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547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Current LTD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3547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$5.0B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941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Long-term debt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39410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$46.3B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334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Total funded debt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43342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742"/>
                </a:solidFill>
              </a:rPr>
              <a:t>$55.8B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727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Net debt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4727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742"/>
                </a:solidFill>
              </a:rPr>
              <a:t>$54.4B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560320"/>
            <a:ext cx="53035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761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Liquidity framework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Cash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$1.4B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Back-up facilities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0" y="3547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$11.0B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CP program capacity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0" y="3941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$11.0B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CP outstanding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0" y="4334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($4.5B)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4727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Remaining CP capacity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0" y="4727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8A70"/>
                </a:solidFill>
              </a:rPr>
              <a:t>$6.5B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</a:rPr>
              <a:t>Important: committed back-up facilities and remaining commercial-paper capacity are related liquidity sources and should not be double counted as fully additive.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Debt Maturity Profile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Near-term maturities are manageable, but refinancing needs are meaningful.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280160"/>
          <a:ext cx="6858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298448"/>
            <a:ext cx="365760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18120" y="1298448"/>
            <a:ext cx="3657600" cy="329184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46136" y="137160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FY2026 maturities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82712" y="1737360"/>
            <a:ext cx="3328416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3.00% notes due April: $1.3B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5.15% notes due June: $1.5B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2.125% notes due September: $1.0B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4.95% notes due September: $0.75B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18120" y="3639312"/>
            <a:ext cx="365760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8120" y="3639312"/>
            <a:ext cx="3657600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46136" y="3712464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Banking takeaway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82712" y="4078224"/>
            <a:ext cx="332841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FY2026-2029 maturities total ~$15.3B.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The company also ended FY2025 with $4.5B of commercial paper outstanding.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Any new term financing should preserve liquidity and refinancing flexibility.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Peer Credit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Home Depot sits between low-leverage peers and the more levered Lowe's profile.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6583680" cy="406908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234440"/>
                <a:gridCol w="1417320"/>
                <a:gridCol w="1143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Credit Score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Debt / EBITDA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Interest Coverage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FCF ($B)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Costco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4.33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0.45x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67.42x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$7.8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Walmart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3.80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0.87x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12.87x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$14.9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Home Depot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3.58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2.04x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8.66x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$12.6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3.28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1.86x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11.50x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$2.8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Lowe's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2.86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3.29x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6.83x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$7.7</a:t>
                      </a:r>
                      <a:endParaRPr lang="en-US" sz="10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1325880"/>
            <a:ext cx="6583680" cy="47548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453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Company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121408" y="1453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Credit Score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55264" y="14538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Debt / EBITDA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62272" y="14538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Interest Coverage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97880" y="1453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FCF ($B)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752344"/>
            <a:ext cx="6583680" cy="475488"/>
          </a:xfrm>
          <a:prstGeom prst="rect">
            <a:avLst/>
          </a:prstGeom>
          <a:solidFill>
            <a:srgbClr val="FFF0E6">
              <a:alpha val="85000"/>
            </a:srgbClr>
          </a:solidFill>
          <a:ln w="16510">
            <a:solidFill>
              <a:srgbClr val="F9630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5240" y="1325880"/>
            <a:ext cx="3840480" cy="40690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35240" y="1325880"/>
            <a:ext cx="3840480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63256" y="1399032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Peer read-through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99832" y="1764792"/>
            <a:ext cx="3511296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Costco and Walmart carry materially lower leverage in the project peer model.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Home Depot combines stronger FCF than Target with higher leverage than Walmart and Costco.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Lowe's remains the most levered peer, reinforcing that Home Depot still has relative balance-sheet flexibility.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Borrower-specific underwriting uses a more conservative funded-debt definition including commercial paper.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 Peer metrics are from the existing normalized project model.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$3.0B Financing &amp; Downside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transaction fits the base and moderate cases; severe downside becomes leverage-constrained.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325880"/>
          <a:ext cx="5257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1325880"/>
          <a:ext cx="5257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1508760" y="5120640"/>
            <a:ext cx="2011680" cy="310896"/>
          </a:xfrm>
          <a:prstGeom prst="roundRect">
            <a:avLst>
              <a:gd name="adj" fmla="val 26471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581912" y="5184648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2.75x leverage guardrail</a:t>
            </a:r>
            <a:endParaRPr lang="en-US" sz="880" dirty="0"/>
          </a:p>
        </p:txBody>
      </p:sp>
      <p:sp>
        <p:nvSpPr>
          <p:cNvPr id="9" name="Shape 5"/>
          <p:cNvSpPr/>
          <p:nvPr/>
        </p:nvSpPr>
        <p:spPr>
          <a:xfrm>
            <a:off x="7360920" y="5120640"/>
            <a:ext cx="2011680" cy="310896"/>
          </a:xfrm>
          <a:prstGeom prst="roundRect">
            <a:avLst>
              <a:gd name="adj" fmla="val 26471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34072" y="5184648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5.0x coverage floor</a:t>
            </a:r>
            <a:endParaRPr lang="en-US" sz="880" dirty="0"/>
          </a:p>
        </p:txBody>
      </p:sp>
      <p:sp>
        <p:nvSpPr>
          <p:cNvPr id="11" name="Text 7"/>
          <p:cNvSpPr/>
          <p:nvPr/>
        </p:nvSpPr>
        <p:spPr>
          <a:xfrm>
            <a:off x="914400" y="56509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Moderate downside: 2.65x leverage / 7.05x coverage / $10.6B FCF after incremental interest.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Incremental Debt Capacity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Leverage, not interest coverage, is the binding constraint in the moderate downside.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98448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4173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Requested financing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77824" y="16459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$3.0B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94760" y="1298448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41064" y="14173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Moderate-downside capacity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41064" y="16459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$5.3B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41064" y="199339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Based on min(leverage, coverage)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858000" y="1298448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04304" y="141732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Headroom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04304" y="16459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2"/>
                </a:solidFill>
              </a:rPr>
              <a:t>$2.3B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04304" y="199339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vs. requested amount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834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</a:rPr>
              <a:t>Illustrative underwriting 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01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Maximum Debt / EBITDA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34015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2.75x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9959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Minimum EBIT / interest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5.0x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590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Minimum committed liquidity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4590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742"/>
                </a:solidFill>
              </a:rPr>
              <a:t>$8.0B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60604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2"/>
                </a:solidFill>
              </a:rPr>
              <a:t>Capacity read-through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4015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Base: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~$13.0B leverage capacity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9776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Moderate: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~$5.3B safe additional debt capacity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553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Severe: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incremental leverage capacity at a 2.75x threshold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512064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96302"/>
                </a:solidFill>
              </a:rPr>
              <a:t>Decision: size the facility against the moderate downside, while treating the severe case as a stress trigger rather than the base sizing constraint.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Risks, Mitigants &amp;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Final underwriting 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365760"/>
            <a:ext cx="2468880" cy="310896"/>
          </a:xfrm>
          <a:prstGeom prst="roundRect">
            <a:avLst>
              <a:gd name="adj" fmla="val 264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429768"/>
            <a:ext cx="2322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LEND WITH CONDITIONS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3474720" cy="329184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39903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risks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764792"/>
            <a:ext cx="3145536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Acquisition-related leverage has increased.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Commercial paper and near-term bond maturities create refinancing exposure.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Cash flow has softened from FY2023 levels.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Severe downside pushes funded leverage above 3.0x.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32588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325880"/>
            <a:ext cx="3474720" cy="329184"/>
          </a:xfrm>
          <a:prstGeom prst="rect">
            <a:avLst/>
          </a:prstGeom>
          <a:solidFill>
            <a:srgbClr val="1F8A70"/>
          </a:solidFill>
          <a:ln w="12700">
            <a:solidFill>
              <a:srgbClr val="1F8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39903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Mitigants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35424" y="1764792"/>
            <a:ext cx="3145536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Strong absolute free cash flow and earnings scale.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Interest coverage remains above 6.0x even in severe downside.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$11.0B of back-up credit facilities were undrawn at year-end.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Management has paused share repurchases while reducing debt.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325880"/>
            <a:ext cx="3474720" cy="329184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399032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Recommended conditions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57032" y="1764792"/>
            <a:ext cx="3145536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Debt / EBITDA at or below 2.75x in base / moderate case.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EBIT / interest coverage above 5.0x.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At least $8.0B of committed liquidity.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No incremental debt-funded buybacks while leverage is elevated.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Ongoing monitoring of 2026-2029 maturities and CP refinancing.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9893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2"/>
                </a:solidFill>
              </a:rPr>
              <a:t>Bottom line: the $3.0B financing is supportable, but the bank should protect downside flexibility rather than underwrite to maximum theoretical debt capacity.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56539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</a:rPr>
              <a:t>Source: Home Depot FY2025 Form 10-K (SEC, Mar. 18, 2026); Corporate Credit project analysis. Assumptions illustrative.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9</Slides>
	<Notes>9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9</vt:i4></vt:variant>
		</vt:vector>
	</HeadingPairs>
	<TitlesOfParts>
		<vt:vector size="12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
		</vt:vector>
	</TitlesOfParts>
	<Company>Corporate Credit & Debt Capacity Analysis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Depot Credit &amp; Financing Review</dc:title>
  <dc:subject>Home Depot corporate banking credit case</dc:subject>
  <dc:creator>OpenAI</dc:creator>
  <cp:lastModifiedBy>OpenAI</cp:lastModifiedBy>
  <cp:revision>1</cp:revision>
  <dcterms:created xsi:type="dcterms:W3CDTF">2026-09-13T23:54:45Z</dcterms:created>
  <dcterms:modified xsi:type="dcterms:W3CDTF">2026-09-13T23:54:45Z</dcterms:modified>
</cp:coreProperties>
</file>